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8" r:id="rId5"/>
    <p:sldId id="256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6/14/4615" TargetMode="External"/><Relationship Id="rId3" Type="http://schemas.openxmlformats.org/officeDocument/2006/relationships/hyperlink" Target="https://pmc.ncbi.nlm.nih.gov/articles/PMC9490765/" TargetMode="External"/><Relationship Id="rId7" Type="http://schemas.openxmlformats.org/officeDocument/2006/relationships/hyperlink" Target="https://www.mdpi.com/1424-8220/22/12/4567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313-433X/8/11/306" TargetMode="External"/><Relationship Id="rId5" Type="http://schemas.openxmlformats.org/officeDocument/2006/relationships/hyperlink" Target="https://arxiv.org/abs/2304.06312" TargetMode="External"/><Relationship Id="rId4" Type="http://schemas.openxmlformats.org/officeDocument/2006/relationships/hyperlink" Target="https://www.slamtec.com/en/c1/spec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129165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26007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and Efficient Operation of Mine Vehicles in Fog and Low-Visibility Conditions in Open Cast Iron Ore Mines</a:t>
            </a:r>
          </a:p>
          <a:p>
            <a:pPr algn="just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Automation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SIH26-A0H-T038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Fury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49242" y="57097"/>
            <a:ext cx="10342993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Fog-Adaptive Collision Avoidance System             for Mining Vehicles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8234" y="5709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Fury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57096"/>
            <a:ext cx="1783692" cy="906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6EFD921C-70A7-C6CA-C526-672F4C86FFEF}"/>
              </a:ext>
            </a:extLst>
          </p:cNvPr>
          <p:cNvSpPr/>
          <p:nvPr/>
        </p:nvSpPr>
        <p:spPr>
          <a:xfrm>
            <a:off x="402234" y="1213130"/>
            <a:ext cx="3645703" cy="479293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5" y="0"/>
                </a:lnTo>
                <a:lnTo>
                  <a:pt x="5468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000331E3-3F34-488D-363B-1BF211DE3C85}"/>
              </a:ext>
            </a:extLst>
          </p:cNvPr>
          <p:cNvSpPr/>
          <p:nvPr/>
        </p:nvSpPr>
        <p:spPr>
          <a:xfrm>
            <a:off x="8144063" y="1200097"/>
            <a:ext cx="3645703" cy="479293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5" y="0"/>
                </a:lnTo>
                <a:lnTo>
                  <a:pt x="5468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5424F60D-81B7-2C98-0AA4-8E5C8D24FAE3}"/>
              </a:ext>
            </a:extLst>
          </p:cNvPr>
          <p:cNvSpPr/>
          <p:nvPr/>
        </p:nvSpPr>
        <p:spPr>
          <a:xfrm>
            <a:off x="4216403" y="1223335"/>
            <a:ext cx="3645703" cy="2640482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5" y="0"/>
                </a:lnTo>
                <a:lnTo>
                  <a:pt x="5468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4E8A8-5DA7-9E4B-66BA-BB65F6517415}"/>
              </a:ext>
            </a:extLst>
          </p:cNvPr>
          <p:cNvSpPr txBox="1"/>
          <p:nvPr/>
        </p:nvSpPr>
        <p:spPr>
          <a:xfrm>
            <a:off x="8296614" y="1578245"/>
            <a:ext cx="34931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COMPLEMENTARY SENSOR FUSION</a:t>
            </a:r>
          </a:p>
          <a:p>
            <a:r>
              <a:rPr lang="en-IN" sz="1200" dirty="0"/>
              <a:t>LiDAR + </a:t>
            </a:r>
            <a:r>
              <a:rPr lang="en-IN" sz="1200" dirty="0" err="1"/>
              <a:t>mmWave</a:t>
            </a:r>
            <a:r>
              <a:rPr lang="en-IN" sz="1200" dirty="0"/>
              <a:t> + Thermal sensing combine spatial, motion and thermal information for low-visibility awareness.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SYNTHETIC 2D ENVIRONMENT VIEW</a:t>
            </a:r>
          </a:p>
          <a:p>
            <a:r>
              <a:rPr lang="en-IN" sz="1200" dirty="0"/>
              <a:t>Transforms heterogeneous sensor measurements into an intuitive vehicle-</a:t>
            </a:r>
            <a:r>
              <a:rPr lang="en-IN" sz="1200" dirty="0" err="1"/>
              <a:t>centered</a:t>
            </a:r>
            <a:r>
              <a:rPr lang="en-IN" sz="1200" dirty="0"/>
              <a:t> view for the driver.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LOW-COST SAFETY ARCHITECTURE</a:t>
            </a:r>
          </a:p>
          <a:p>
            <a:r>
              <a:rPr lang="en-IN" sz="1200" dirty="0"/>
              <a:t>Uses affordable, commercially available components to make advanced perception more accessible for mining applications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DRIVER-CENTRIC ASSISTANCE</a:t>
            </a:r>
          </a:p>
          <a:p>
            <a:r>
              <a:rPr lang="en-IN" sz="1200" dirty="0"/>
              <a:t>Provides actionable visual and audible hazard warnings instead of attempting autonomous vehicle control.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MODULAR &amp; SCALABLE</a:t>
            </a:r>
          </a:p>
          <a:p>
            <a:r>
              <a:rPr lang="en-IN" sz="1200" dirty="0"/>
              <a:t>Progressive sensor integration allows easy prototyping, testing and future enhancement.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634785-AEC4-BBD1-B644-C355D1EEC5D3}"/>
              </a:ext>
            </a:extLst>
          </p:cNvPr>
          <p:cNvSpPr txBox="1"/>
          <p:nvPr/>
        </p:nvSpPr>
        <p:spPr>
          <a:xfrm>
            <a:off x="4273146" y="1555493"/>
            <a:ext cx="358896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In an open-cast iron-ore mine, haul trucks operate on: Narrow/winding haul roads, Steep gradients, Benches and ramps, Dusty environments, Heavy machinery traffic, Blind curves, Changing road conditions. Fog, especially during monsoon/early morning</a:t>
            </a:r>
          </a:p>
          <a:p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During dense fog, the driver's </a:t>
            </a:r>
            <a:r>
              <a:rPr lang="en-IN" sz="1200" b="1" dirty="0"/>
              <a:t>visual horizon collapses. </a:t>
            </a:r>
            <a:r>
              <a:rPr lang="en-IN" sz="1200" dirty="0"/>
              <a:t>A truck may technically have functioning brakes, steering and lights, but the operator may detect another truck, person, obstacle or road boundary </a:t>
            </a:r>
            <a:r>
              <a:rPr lang="en-IN" sz="1200" b="1" dirty="0"/>
              <a:t>too late to react safely</a:t>
            </a:r>
            <a:r>
              <a:rPr lang="en-IN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583304-E848-5A52-F999-10A423F7AC66}"/>
              </a:ext>
            </a:extLst>
          </p:cNvPr>
          <p:cNvSpPr txBox="1"/>
          <p:nvPr/>
        </p:nvSpPr>
        <p:spPr>
          <a:xfrm>
            <a:off x="754161" y="1200097"/>
            <a:ext cx="3293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SOLUTION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057F5F-D265-2A86-4AC0-7AC75DE23CDA}"/>
              </a:ext>
            </a:extLst>
          </p:cNvPr>
          <p:cNvSpPr txBox="1"/>
          <p:nvPr/>
        </p:nvSpPr>
        <p:spPr>
          <a:xfrm>
            <a:off x="395314" y="1766418"/>
            <a:ext cx="36526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1. </a:t>
            </a:r>
            <a:r>
              <a:rPr lang="en-IN" sz="1200" b="1" dirty="0"/>
              <a:t>LiDAR-Based Environment Mapping</a:t>
            </a:r>
          </a:p>
          <a:p>
            <a:r>
              <a:rPr lang="en-IN" sz="1200" dirty="0"/>
              <a:t>RPLIDAR C1 provides surrounding obstacle and    environment information.</a:t>
            </a:r>
          </a:p>
          <a:p>
            <a:endParaRPr lang="en-IN" sz="1200" dirty="0"/>
          </a:p>
          <a:p>
            <a:r>
              <a:rPr lang="en-IN" sz="1200" dirty="0"/>
              <a:t>2. </a:t>
            </a:r>
            <a:r>
              <a:rPr lang="en-IN" sz="1200" b="1" dirty="0" err="1"/>
              <a:t>mmWave</a:t>
            </a:r>
            <a:r>
              <a:rPr lang="en-IN" sz="1200" b="1" dirty="0"/>
              <a:t> Radar Detection</a:t>
            </a:r>
          </a:p>
          <a:p>
            <a:r>
              <a:rPr lang="en-IN" sz="1200" dirty="0"/>
              <a:t>HLK-LD2451 detects nearby moving targets and provides range/relative-motion information.</a:t>
            </a:r>
          </a:p>
          <a:p>
            <a:endParaRPr lang="en-IN" sz="1200" dirty="0"/>
          </a:p>
          <a:p>
            <a:r>
              <a:rPr lang="en-IN" sz="1200" dirty="0"/>
              <a:t>3. </a:t>
            </a:r>
            <a:r>
              <a:rPr lang="en-IN" sz="1200" b="1" dirty="0"/>
              <a:t>Thermal Sensing</a:t>
            </a:r>
          </a:p>
          <a:p>
            <a:r>
              <a:rPr lang="en-IN" sz="1200" dirty="0"/>
              <a:t>MLX90640 provides thermal information to complement other sensors in poor visibility.</a:t>
            </a:r>
          </a:p>
          <a:p>
            <a:endParaRPr lang="en-IN" sz="1200" dirty="0"/>
          </a:p>
          <a:p>
            <a:r>
              <a:rPr lang="en-IN" sz="1200" dirty="0"/>
              <a:t>4. </a:t>
            </a:r>
            <a:r>
              <a:rPr lang="en-IN" sz="1200" b="1" dirty="0"/>
              <a:t>Vehicle Localization                                                      </a:t>
            </a:r>
            <a:r>
              <a:rPr lang="en-IN" sz="1200" dirty="0"/>
              <a:t>GPS provides the vehicle's position for contextual awareness.</a:t>
            </a:r>
          </a:p>
          <a:p>
            <a:endParaRPr lang="en-IN" sz="1200" dirty="0"/>
          </a:p>
          <a:p>
            <a:r>
              <a:rPr lang="en-IN" sz="1200" dirty="0"/>
              <a:t>5. </a:t>
            </a:r>
            <a:r>
              <a:rPr lang="en-IN" sz="1200" b="1" dirty="0"/>
              <a:t>Driver Assistance</a:t>
            </a:r>
          </a:p>
          <a:p>
            <a:r>
              <a:rPr lang="en-IN" sz="1200" dirty="0"/>
              <a:t>Sensor information is processed and presented as a simplified synthetic 2D environment view with visual and audible hazard warnings.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EC69F-47A7-46EE-08B3-5A45A106D36B}"/>
              </a:ext>
            </a:extLst>
          </p:cNvPr>
          <p:cNvSpPr txBox="1"/>
          <p:nvPr/>
        </p:nvSpPr>
        <p:spPr>
          <a:xfrm>
            <a:off x="4152855" y="1239691"/>
            <a:ext cx="4289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CORE PROBLEM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F95FD1-5E15-2F63-5AE6-48A026BA361B}"/>
              </a:ext>
            </a:extLst>
          </p:cNvPr>
          <p:cNvSpPr txBox="1"/>
          <p:nvPr/>
        </p:nvSpPr>
        <p:spPr>
          <a:xfrm>
            <a:off x="8434328" y="1205113"/>
            <a:ext cx="30951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5ADE20CB-B1A8-619A-BF82-6FC45F836168}"/>
              </a:ext>
            </a:extLst>
          </p:cNvPr>
          <p:cNvSpPr/>
          <p:nvPr/>
        </p:nvSpPr>
        <p:spPr>
          <a:xfrm>
            <a:off x="4216403" y="3964893"/>
            <a:ext cx="3645703" cy="228879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5" y="0"/>
                </a:lnTo>
                <a:lnTo>
                  <a:pt x="5468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PROBLEM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963F0F-07DB-EB55-D4F6-56766B0EBBF4}"/>
              </a:ext>
            </a:extLst>
          </p:cNvPr>
          <p:cNvSpPr txBox="1"/>
          <p:nvPr/>
        </p:nvSpPr>
        <p:spPr>
          <a:xfrm>
            <a:off x="4273146" y="4314819"/>
            <a:ext cx="36457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NMDC Limited is India’s largest Iron Ore producer, currently producing approximately 53 Million Tonnes Per Annum (MTPA) from its three fully mechanized mining complexes, namely BIOM-Kirandul...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In line with the National Steel Policy, NMDC has set a target of achieving 100 MT production capacity by 2030, with approximately 80 MT expected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fury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390" y="46707"/>
            <a:ext cx="1753095" cy="89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82F9F8C-5AA1-35EB-1072-71A937E82B04}"/>
              </a:ext>
            </a:extLst>
          </p:cNvPr>
          <p:cNvSpPr/>
          <p:nvPr/>
        </p:nvSpPr>
        <p:spPr>
          <a:xfrm>
            <a:off x="418667" y="1138086"/>
            <a:ext cx="2256520" cy="51381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TECHNOLODGY USED</a:t>
            </a:r>
          </a:p>
          <a:p>
            <a:endParaRPr lang="en-IN" sz="1400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1. </a:t>
            </a:r>
            <a:r>
              <a:rPr lang="en-IN" sz="1200" b="1" dirty="0">
                <a:solidFill>
                  <a:schemeClr val="tx1"/>
                </a:solidFill>
              </a:rPr>
              <a:t>RPLIDAR C1 </a:t>
            </a:r>
            <a:r>
              <a:rPr lang="en-IN" sz="1200" dirty="0">
                <a:solidFill>
                  <a:schemeClr val="tx1"/>
                </a:solidFill>
              </a:rPr>
              <a:t>: 2D / 360° Environment &amp; Obstacle Mapping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2.</a:t>
            </a:r>
            <a:r>
              <a:rPr lang="en-IN" sz="1200" b="1" dirty="0">
                <a:solidFill>
                  <a:schemeClr val="tx1"/>
                </a:solidFill>
              </a:rPr>
              <a:t> HLK-LD2451 </a:t>
            </a:r>
            <a:r>
              <a:rPr lang="en-IN" sz="1200" dirty="0">
                <a:solidFill>
                  <a:schemeClr val="tx1"/>
                </a:solidFill>
              </a:rPr>
              <a:t>: 24 GHz </a:t>
            </a:r>
            <a:r>
              <a:rPr lang="en-IN" sz="1200" dirty="0" err="1">
                <a:solidFill>
                  <a:schemeClr val="tx1"/>
                </a:solidFill>
              </a:rPr>
              <a:t>mmWave</a:t>
            </a:r>
            <a:r>
              <a:rPr lang="en-IN" sz="1200" dirty="0">
                <a:solidFill>
                  <a:schemeClr val="tx1"/>
                </a:solidFill>
              </a:rPr>
              <a:t> Radar Moving Target Detection + Relative Motion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3</a:t>
            </a:r>
            <a:r>
              <a:rPr lang="en-IN" sz="1200" b="1" dirty="0">
                <a:solidFill>
                  <a:schemeClr val="tx1"/>
                </a:solidFill>
              </a:rPr>
              <a:t>. MLX90640 </a:t>
            </a:r>
            <a:r>
              <a:rPr lang="en-IN" sz="1200" dirty="0">
                <a:solidFill>
                  <a:schemeClr val="tx1"/>
                </a:solidFill>
              </a:rPr>
              <a:t>: Thermal Camera Thermal Object Information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4. </a:t>
            </a:r>
            <a:r>
              <a:rPr lang="en-IN" sz="1200" b="1" dirty="0">
                <a:solidFill>
                  <a:schemeClr val="tx1"/>
                </a:solidFill>
              </a:rPr>
              <a:t>GPS MODULE </a:t>
            </a:r>
            <a:r>
              <a:rPr lang="en-IN" sz="1200" dirty="0">
                <a:solidFill>
                  <a:schemeClr val="tx1"/>
                </a:solidFill>
              </a:rPr>
              <a:t>: Vehicle Localization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5.</a:t>
            </a:r>
            <a:r>
              <a:rPr lang="en-IN" sz="1200" b="1" dirty="0">
                <a:solidFill>
                  <a:schemeClr val="tx1"/>
                </a:solidFill>
              </a:rPr>
              <a:t> ESP32-S3 </a:t>
            </a:r>
            <a:r>
              <a:rPr lang="en-IN" sz="1200" dirty="0">
                <a:solidFill>
                  <a:schemeClr val="tx1"/>
                </a:solidFill>
              </a:rPr>
              <a:t>:Embedded Processing &amp; Sensor Integration</a:t>
            </a:r>
          </a:p>
          <a:p>
            <a:endParaRPr lang="en-IN" sz="1200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6. </a:t>
            </a:r>
            <a:r>
              <a:rPr lang="en-IN" sz="1200" b="1" dirty="0">
                <a:solidFill>
                  <a:schemeClr val="tx1"/>
                </a:solidFill>
              </a:rPr>
              <a:t>DISPLAY + BUZZER/LED </a:t>
            </a:r>
            <a:r>
              <a:rPr lang="en-IN" sz="1200" dirty="0">
                <a:solidFill>
                  <a:schemeClr val="tx1"/>
                </a:solidFill>
              </a:rPr>
              <a:t>:</a:t>
            </a:r>
          </a:p>
          <a:p>
            <a:r>
              <a:rPr lang="en-IN" sz="1200" dirty="0">
                <a:solidFill>
                  <a:schemeClr val="tx1"/>
                </a:solidFill>
              </a:rPr>
              <a:t>Synthetic Environment View + Driver Warning</a:t>
            </a:r>
          </a:p>
          <a:p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AE40F7-8706-062B-4AEB-A678E053FC00}"/>
              </a:ext>
            </a:extLst>
          </p:cNvPr>
          <p:cNvSpPr/>
          <p:nvPr/>
        </p:nvSpPr>
        <p:spPr>
          <a:xfrm>
            <a:off x="8542695" y="1228180"/>
            <a:ext cx="2047009" cy="5368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SENSOR ALIGNMENT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Common Vehicle-</a:t>
            </a:r>
            <a:r>
              <a:rPr lang="en-IN" sz="1200" dirty="0" err="1">
                <a:solidFill>
                  <a:schemeClr val="tx1"/>
                </a:solidFill>
              </a:rPr>
              <a:t>Centered</a:t>
            </a:r>
            <a:r>
              <a:rPr lang="en-IN" sz="1200" dirty="0">
                <a:solidFill>
                  <a:schemeClr val="tx1"/>
                </a:solidFill>
              </a:rPr>
              <a:t> Coordinate Frame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93585F-4F8F-AF3A-F5FC-E18B986AFF6B}"/>
              </a:ext>
            </a:extLst>
          </p:cNvPr>
          <p:cNvSpPr/>
          <p:nvPr/>
        </p:nvSpPr>
        <p:spPr>
          <a:xfrm>
            <a:off x="6517514" y="1228180"/>
            <a:ext cx="1700649" cy="5368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DATA ACQUISITION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Embedded Controller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4EE4E7-AAF3-6163-A0A2-1A595D494448}"/>
              </a:ext>
            </a:extLst>
          </p:cNvPr>
          <p:cNvSpPr/>
          <p:nvPr/>
        </p:nvSpPr>
        <p:spPr>
          <a:xfrm>
            <a:off x="4833846" y="1259354"/>
            <a:ext cx="1427020" cy="5056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SENSOR INPUT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LiDAR + </a:t>
            </a:r>
            <a:r>
              <a:rPr lang="en-IN" sz="1200" dirty="0" err="1">
                <a:solidFill>
                  <a:schemeClr val="tx1"/>
                </a:solidFill>
              </a:rPr>
              <a:t>mmWave</a:t>
            </a:r>
            <a:r>
              <a:rPr lang="en-IN" sz="1200" dirty="0">
                <a:solidFill>
                  <a:schemeClr val="tx1"/>
                </a:solidFill>
              </a:rPr>
              <a:t> + Thermal + GPS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F4C776-AD1E-7079-35F2-06784B2BAFBD}"/>
              </a:ext>
            </a:extLst>
          </p:cNvPr>
          <p:cNvSpPr/>
          <p:nvPr/>
        </p:nvSpPr>
        <p:spPr>
          <a:xfrm>
            <a:off x="3150178" y="1259354"/>
            <a:ext cx="1278083" cy="50569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FOG / LOW VISIBILITY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A95658-77AA-D8DA-1A62-0F12A8313693}"/>
              </a:ext>
            </a:extLst>
          </p:cNvPr>
          <p:cNvSpPr/>
          <p:nvPr/>
        </p:nvSpPr>
        <p:spPr>
          <a:xfrm>
            <a:off x="8549315" y="1984824"/>
            <a:ext cx="2040389" cy="60836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ENVIRONMENT &amp; HAZARD EVALUATION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37FC82-0232-A602-898D-34704F28E39F}"/>
              </a:ext>
            </a:extLst>
          </p:cNvPr>
          <p:cNvSpPr/>
          <p:nvPr/>
        </p:nvSpPr>
        <p:spPr>
          <a:xfrm>
            <a:off x="4864324" y="2020572"/>
            <a:ext cx="1427020" cy="5368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DRIVER ALERT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Display + Buzzer/LED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631BBD-F49C-322B-56DD-6AA145655313}"/>
              </a:ext>
            </a:extLst>
          </p:cNvPr>
          <p:cNvSpPr/>
          <p:nvPr/>
        </p:nvSpPr>
        <p:spPr>
          <a:xfrm>
            <a:off x="6548697" y="1975132"/>
            <a:ext cx="1700649" cy="60836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SYNTHETIC 2D ENVIRONMENT VIEW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E861F63-393B-DFC0-E2CC-159C43E2A9F5}"/>
              </a:ext>
            </a:extLst>
          </p:cNvPr>
          <p:cNvSpPr/>
          <p:nvPr/>
        </p:nvSpPr>
        <p:spPr>
          <a:xfrm>
            <a:off x="3150178" y="2010880"/>
            <a:ext cx="1278083" cy="53686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DRIVER RESPONSE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AE57943-43AF-8451-7B12-B785BCE533FF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>
            <a:off x="4428261" y="1512200"/>
            <a:ext cx="4055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4CBFEAF-B818-E693-334B-D188F31AAB56}"/>
              </a:ext>
            </a:extLst>
          </p:cNvPr>
          <p:cNvCxnSpPr>
            <a:stCxn id="13" idx="3"/>
            <a:endCxn id="8" idx="1"/>
          </p:cNvCxnSpPr>
          <p:nvPr/>
        </p:nvCxnSpPr>
        <p:spPr>
          <a:xfrm flipV="1">
            <a:off x="6260866" y="1496613"/>
            <a:ext cx="256648" cy="15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13954E-0959-A7A6-E9A5-7B80E7079C33}"/>
              </a:ext>
            </a:extLst>
          </p:cNvPr>
          <p:cNvCxnSpPr>
            <a:stCxn id="8" idx="3"/>
            <a:endCxn id="4" idx="1"/>
          </p:cNvCxnSpPr>
          <p:nvPr/>
        </p:nvCxnSpPr>
        <p:spPr>
          <a:xfrm>
            <a:off x="8218163" y="1496613"/>
            <a:ext cx="324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4158CA-2270-EBD1-D5B7-53BF03015D48}"/>
              </a:ext>
            </a:extLst>
          </p:cNvPr>
          <p:cNvCxnSpPr>
            <a:stCxn id="17" idx="1"/>
            <a:endCxn id="21" idx="3"/>
          </p:cNvCxnSpPr>
          <p:nvPr/>
        </p:nvCxnSpPr>
        <p:spPr>
          <a:xfrm flipH="1" flipV="1">
            <a:off x="8249346" y="2279314"/>
            <a:ext cx="299969" cy="9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79ACA00-4C72-105F-B4A2-C75135C13874}"/>
              </a:ext>
            </a:extLst>
          </p:cNvPr>
          <p:cNvCxnSpPr>
            <a:stCxn id="21" idx="1"/>
            <a:endCxn id="19" idx="3"/>
          </p:cNvCxnSpPr>
          <p:nvPr/>
        </p:nvCxnSpPr>
        <p:spPr>
          <a:xfrm flipH="1">
            <a:off x="6291344" y="2279314"/>
            <a:ext cx="257353" cy="9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863A035-9B3C-61F2-D91B-6876511606C1}"/>
              </a:ext>
            </a:extLst>
          </p:cNvPr>
          <p:cNvCxnSpPr>
            <a:stCxn id="19" idx="1"/>
            <a:endCxn id="23" idx="3"/>
          </p:cNvCxnSpPr>
          <p:nvPr/>
        </p:nvCxnSpPr>
        <p:spPr>
          <a:xfrm flipH="1" flipV="1">
            <a:off x="4428261" y="2279313"/>
            <a:ext cx="436063" cy="9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22B554E-721E-F875-459D-47E5722CE84E}"/>
              </a:ext>
            </a:extLst>
          </p:cNvPr>
          <p:cNvCxnSpPr>
            <a:cxnSpLocks/>
          </p:cNvCxnSpPr>
          <p:nvPr/>
        </p:nvCxnSpPr>
        <p:spPr>
          <a:xfrm>
            <a:off x="10913189" y="1486919"/>
            <a:ext cx="0" cy="7923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C018133-E15E-5692-3BA3-3841B853B64F}"/>
              </a:ext>
            </a:extLst>
          </p:cNvPr>
          <p:cNvCxnSpPr>
            <a:stCxn id="4" idx="3"/>
          </p:cNvCxnSpPr>
          <p:nvPr/>
        </p:nvCxnSpPr>
        <p:spPr>
          <a:xfrm flipV="1">
            <a:off x="10589704" y="1496612"/>
            <a:ext cx="32211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8B3E39-F729-453F-30E9-D349BB562C31}"/>
              </a:ext>
            </a:extLst>
          </p:cNvPr>
          <p:cNvCxnSpPr>
            <a:endCxn id="17" idx="3"/>
          </p:cNvCxnSpPr>
          <p:nvPr/>
        </p:nvCxnSpPr>
        <p:spPr>
          <a:xfrm flipH="1">
            <a:off x="10589704" y="2279312"/>
            <a:ext cx="322118" cy="96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2BD85CC-6760-1DDC-A145-F226CBA6FF24}"/>
              </a:ext>
            </a:extLst>
          </p:cNvPr>
          <p:cNvSpPr txBox="1"/>
          <p:nvPr/>
        </p:nvSpPr>
        <p:spPr>
          <a:xfrm>
            <a:off x="5888045" y="2773127"/>
            <a:ext cx="2248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5217" y="1275358"/>
            <a:ext cx="3645703" cy="479293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5" y="0"/>
                </a:lnTo>
                <a:lnTo>
                  <a:pt x="546855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82752" y="1474593"/>
            <a:ext cx="2170176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84"/>
              </a:lnSpc>
            </a:pPr>
            <a:r>
              <a:rPr lang="en-US" sz="1884" spc="-37" dirty="0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rPr>
              <a:t>Feasibility of the Idea</a:t>
            </a:r>
          </a:p>
        </p:txBody>
      </p:sp>
      <p:sp>
        <p:nvSpPr>
          <p:cNvPr id="4" name="Freeform 4"/>
          <p:cNvSpPr/>
          <p:nvPr/>
        </p:nvSpPr>
        <p:spPr>
          <a:xfrm>
            <a:off x="4108557" y="1275358"/>
            <a:ext cx="3645703" cy="479293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4" y="0"/>
                </a:lnTo>
                <a:lnTo>
                  <a:pt x="54685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4230624" y="1474593"/>
            <a:ext cx="286512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7"/>
              </a:lnSpc>
            </a:pPr>
            <a:r>
              <a:rPr lang="en-US" sz="1797" spc="-35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rPr>
              <a:t>Potential Challenges &amp; Risks</a:t>
            </a:r>
          </a:p>
        </p:txBody>
      </p:sp>
      <p:sp>
        <p:nvSpPr>
          <p:cNvPr id="6" name="Freeform 6"/>
          <p:cNvSpPr/>
          <p:nvPr/>
        </p:nvSpPr>
        <p:spPr>
          <a:xfrm>
            <a:off x="7924653" y="1275358"/>
            <a:ext cx="3645703" cy="4792933"/>
          </a:xfrm>
          <a:custGeom>
            <a:avLst/>
            <a:gdLst/>
            <a:ahLst/>
            <a:cxnLst/>
            <a:rect l="l" t="t" r="r" b="b"/>
            <a:pathLst>
              <a:path w="5468555" h="8229600">
                <a:moveTo>
                  <a:pt x="0" y="0"/>
                </a:moveTo>
                <a:lnTo>
                  <a:pt x="5468554" y="0"/>
                </a:lnTo>
                <a:lnTo>
                  <a:pt x="54685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</p:sp>
      <p:sp>
        <p:nvSpPr>
          <p:cNvPr id="7" name="TextBox 7"/>
          <p:cNvSpPr txBox="1"/>
          <p:nvPr/>
        </p:nvSpPr>
        <p:spPr>
          <a:xfrm>
            <a:off x="8046720" y="1416472"/>
            <a:ext cx="238963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59"/>
              </a:lnSpc>
            </a:pPr>
            <a:r>
              <a:rPr lang="en-US" sz="1859" spc="-37">
                <a:solidFill>
                  <a:srgbClr val="000000"/>
                </a:solidFill>
                <a:latin typeface="RoxboroughCF"/>
                <a:ea typeface="RoxboroughCF"/>
                <a:cs typeface="RoxboroughCF"/>
                <a:sym typeface="RoxboroughCF"/>
              </a:rPr>
              <a:t>Strategies to Overcome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7577" y="1954823"/>
            <a:ext cx="3340981" cy="288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Commercially available LiDAR, 24 GHz </a:t>
            </a:r>
            <a:r>
              <a:rPr lang="en-US" sz="137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mmWave</a:t>
            </a: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radar, thermal camera, GPS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local processing for immediate hazard visualization &amp; warnings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Low-cost off-the-shelf hardware enables affordable prototyping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design supports progressive sensor integration &amp; testing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development: Prototype → Controlled Testing → Industrial Deployment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30624" y="1953077"/>
            <a:ext cx="3401568" cy="346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Dense fog impacts LiDAR &amp; thermal sensing accuracy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Sensor errors risk false or missed detections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Limited range &amp; field of view in low-cost sensors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Vehicle vibration affects sensor stability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GPS aids localization, not direct collision detection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Ruggedization &amp; safety validation needed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        for real mines</a:t>
            </a: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endParaRPr lang="en-US" sz="1375" dirty="0">
              <a:solidFill>
                <a:srgbClr val="000000"/>
              </a:solidFill>
              <a:latin typeface="Times New Roman"/>
              <a:cs typeface="Times New Roman"/>
              <a:sym typeface="Sorts Mill Goudy"/>
            </a:endParaRPr>
          </a:p>
          <a:p>
            <a:pPr marL="285750" indent="-285750">
              <a:lnSpc>
                <a:spcPts val="1513"/>
              </a:lnSpc>
              <a:buFont typeface="Arial" panose="020B0604020202020204" pitchFamily="34" charset="0"/>
              <a:buChar char="•"/>
            </a:pPr>
            <a:r>
              <a:rPr lang="en-US" sz="1375" dirty="0">
                <a:solidFill>
                  <a:srgbClr val="000000"/>
                </a:solidFill>
                <a:latin typeface="Times New Roman"/>
                <a:cs typeface="Times New Roman"/>
                <a:sym typeface="Sorts Mill Goudy"/>
              </a:rPr>
              <a:t>V2V/V2I communication limited by latency, range, packet loss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79664" y="1953077"/>
            <a:ext cx="3535680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Use complementary sensing: radar for motion, LiDAR for range, thermal for warm objects, GPS for location</a:t>
            </a: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Combine distance &amp; relative movement for risk evaluation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Cross-check overlapping sensor data to reduce false alarms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Calibrate sensor position, orientation &amp; thresholds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Fail-safe warnings &amp; degraded sensing indicators</a:t>
            </a:r>
          </a:p>
          <a:p>
            <a:pPr>
              <a:lnSpc>
                <a:spcPts val="1348"/>
              </a:lnSpc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        on sensor faults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Prototype with affordable modules: upgrade to industrial hardware for deployment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Treat V2V/V2I as supplementary warning layer only</a:t>
            </a:r>
          </a:p>
          <a:p>
            <a:pPr>
              <a:lnSpc>
                <a:spcPts val="1348"/>
              </a:lnSpc>
            </a:pPr>
            <a:endParaRPr lang="en-US" sz="1225" dirty="0">
              <a:solidFill>
                <a:srgbClr val="000000"/>
              </a:solidFill>
              <a:latin typeface="Times New Roman" panose="02020603050405020304" pitchFamily="18" charset="0"/>
              <a:ea typeface="Sorts Mill Goudy"/>
              <a:cs typeface="Times New Roman" panose="02020603050405020304" pitchFamily="18" charset="0"/>
              <a:sym typeface="Sorts Mill Goudy"/>
            </a:endParaRPr>
          </a:p>
          <a:p>
            <a:pPr marL="285750" indent="-285750">
              <a:lnSpc>
                <a:spcPts val="1348"/>
              </a:lnSpc>
              <a:buFont typeface="Arial" panose="020B0604020202020204" pitchFamily="34" charset="0"/>
              <a:buChar char="•"/>
            </a:pPr>
            <a:r>
              <a:rPr lang="en-US" sz="1225" dirty="0">
                <a:solidFill>
                  <a:srgbClr val="000000"/>
                </a:solidFill>
                <a:latin typeface="Times New Roman" panose="02020603050405020304" pitchFamily="18" charset="0"/>
                <a:ea typeface="Sorts Mill Goudy"/>
                <a:cs typeface="Times New Roman" panose="02020603050405020304" pitchFamily="18" charset="0"/>
                <a:sym typeface="Sorts Mill Goudy"/>
              </a:rPr>
              <a:t>Progressive testing: individual sensors → integrated system → fog simulation → moving vehicles → 1/2V/V21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5CBC70-446A-C1DF-23BD-666B0C66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E124F89-13F6-533E-CF93-566F9756D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E4B945A1-9EEF-D870-6BB2-174AE2A410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6748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Fury</a:t>
            </a:r>
            <a:endParaRPr lang="en-IN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33D04A-2CB9-C765-4B40-E4DB9021F399}"/>
              </a:ext>
            </a:extLst>
          </p:cNvPr>
          <p:cNvSpPr txBox="1">
            <a:spLocks/>
          </p:cNvSpPr>
          <p:nvPr/>
        </p:nvSpPr>
        <p:spPr>
          <a:xfrm>
            <a:off x="609600" y="-47625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8" name="Picture 2" descr="https://www.sih.gov.in/img1/SIH-Logo.png">
            <a:extLst>
              <a:ext uri="{FF2B5EF4-FFF2-40B4-BE49-F238E27FC236}">
                <a16:creationId xmlns:a16="http://schemas.microsoft.com/office/drawing/2014/main" id="{C2D17342-BF06-415E-E564-CB3B436F1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182" y="57097"/>
            <a:ext cx="1971304" cy="1001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349750" y="857250"/>
            <a:ext cx="3492500" cy="571500"/>
          </a:xfrm>
          <a:custGeom>
            <a:avLst/>
            <a:gdLst/>
            <a:ahLst/>
            <a:cxnLst/>
            <a:rect l="l" t="t" r="r" b="b"/>
            <a:pathLst>
              <a:path w="5238750" h="857250">
                <a:moveTo>
                  <a:pt x="0" y="0"/>
                </a:moveTo>
                <a:lnTo>
                  <a:pt x="5238750" y="0"/>
                </a:lnTo>
                <a:lnTo>
                  <a:pt x="5238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18304" y="1066380"/>
            <a:ext cx="2807208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81"/>
              </a:lnSpc>
            </a:pPr>
            <a:r>
              <a:rPr lang="en-US" sz="1581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TARGET USERS &amp; IMPACT</a:t>
            </a:r>
          </a:p>
        </p:txBody>
      </p:sp>
      <p:sp>
        <p:nvSpPr>
          <p:cNvPr id="5" name="Freeform 5"/>
          <p:cNvSpPr/>
          <p:nvPr/>
        </p:nvSpPr>
        <p:spPr>
          <a:xfrm>
            <a:off x="3048000" y="1698487"/>
            <a:ext cx="3011424" cy="1692413"/>
          </a:xfrm>
          <a:custGeom>
            <a:avLst/>
            <a:gdLst/>
            <a:ahLst/>
            <a:cxnLst/>
            <a:rect l="l" t="t" r="r" b="b"/>
            <a:pathLst>
              <a:path w="4517136" h="2538620">
                <a:moveTo>
                  <a:pt x="0" y="0"/>
                </a:moveTo>
                <a:lnTo>
                  <a:pt x="4517136" y="0"/>
                </a:lnTo>
                <a:lnTo>
                  <a:pt x="4517136" y="2538620"/>
                </a:lnTo>
                <a:lnTo>
                  <a:pt x="0" y="2538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75" r="-1685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3850" y="1143000"/>
            <a:ext cx="2908300" cy="571500"/>
          </a:xfrm>
          <a:custGeom>
            <a:avLst/>
            <a:gdLst/>
            <a:ahLst/>
            <a:cxnLst/>
            <a:rect l="l" t="t" r="r" b="b"/>
            <a:pathLst>
              <a:path w="4362450" h="857250">
                <a:moveTo>
                  <a:pt x="0" y="0"/>
                </a:moveTo>
                <a:lnTo>
                  <a:pt x="4362450" y="0"/>
                </a:lnTo>
                <a:lnTo>
                  <a:pt x="4362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95800" y="1282700"/>
            <a:ext cx="1600200" cy="431800"/>
          </a:xfrm>
          <a:custGeom>
            <a:avLst/>
            <a:gdLst/>
            <a:ahLst/>
            <a:cxnLst/>
            <a:rect l="l" t="t" r="r" b="b"/>
            <a:pathLst>
              <a:path w="2400300" h="647700">
                <a:moveTo>
                  <a:pt x="0" y="0"/>
                </a:moveTo>
                <a:lnTo>
                  <a:pt x="2400300" y="0"/>
                </a:lnTo>
                <a:lnTo>
                  <a:pt x="2400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29351" y="1645816"/>
            <a:ext cx="2736263" cy="1714500"/>
          </a:xfrm>
          <a:custGeom>
            <a:avLst/>
            <a:gdLst/>
            <a:ahLst/>
            <a:cxnLst/>
            <a:rect l="l" t="t" r="r" b="b"/>
            <a:pathLst>
              <a:path w="4104395" h="2571750">
                <a:moveTo>
                  <a:pt x="0" y="0"/>
                </a:moveTo>
                <a:lnTo>
                  <a:pt x="4104395" y="0"/>
                </a:lnTo>
                <a:lnTo>
                  <a:pt x="4104395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92" r="-2972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096000" y="1143000"/>
            <a:ext cx="1600200" cy="571500"/>
          </a:xfrm>
          <a:custGeom>
            <a:avLst/>
            <a:gdLst/>
            <a:ahLst/>
            <a:cxnLst/>
            <a:rect l="l" t="t" r="r" b="b"/>
            <a:pathLst>
              <a:path w="2400300" h="857250">
                <a:moveTo>
                  <a:pt x="0" y="0"/>
                </a:moveTo>
                <a:lnTo>
                  <a:pt x="2400300" y="0"/>
                </a:lnTo>
                <a:lnTo>
                  <a:pt x="2400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070975" y="1656207"/>
            <a:ext cx="2726544" cy="1672220"/>
          </a:xfrm>
          <a:custGeom>
            <a:avLst/>
            <a:gdLst/>
            <a:ahLst/>
            <a:cxnLst/>
            <a:rect l="l" t="t" r="r" b="b"/>
            <a:pathLst>
              <a:path w="4089816" h="2508330">
                <a:moveTo>
                  <a:pt x="0" y="0"/>
                </a:moveTo>
                <a:lnTo>
                  <a:pt x="4089817" y="0"/>
                </a:lnTo>
                <a:lnTo>
                  <a:pt x="4089817" y="2508331"/>
                </a:lnTo>
                <a:lnTo>
                  <a:pt x="0" y="25083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622" r="-15306" b="-252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543800" y="1143000"/>
            <a:ext cx="3054350" cy="571500"/>
          </a:xfrm>
          <a:custGeom>
            <a:avLst/>
            <a:gdLst/>
            <a:ahLst/>
            <a:cxnLst/>
            <a:rect l="l" t="t" r="r" b="b"/>
            <a:pathLst>
              <a:path w="4581525" h="857250">
                <a:moveTo>
                  <a:pt x="0" y="0"/>
                </a:moveTo>
                <a:lnTo>
                  <a:pt x="4581525" y="0"/>
                </a:lnTo>
                <a:lnTo>
                  <a:pt x="4581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60426" y="1676400"/>
            <a:ext cx="2552065" cy="1714500"/>
          </a:xfrm>
          <a:custGeom>
            <a:avLst/>
            <a:gdLst/>
            <a:ahLst/>
            <a:cxnLst/>
            <a:rect l="l" t="t" r="r" b="b"/>
            <a:pathLst>
              <a:path w="3828098" h="2571750">
                <a:moveTo>
                  <a:pt x="0" y="0"/>
                </a:moveTo>
                <a:lnTo>
                  <a:pt x="3828098" y="0"/>
                </a:lnTo>
                <a:lnTo>
                  <a:pt x="3828098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034" r="-3373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1605" y="1866327"/>
            <a:ext cx="2476468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"/>
              </a:lnSpc>
            </a:pPr>
            <a:r>
              <a:rPr lang="en-US" sz="1251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MINING VEHICLE OPERATORS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3453" y="2101968"/>
            <a:ext cx="2400871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Earlier detection of collision hazards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Reduced dependence on visibility through windshield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Clear distance, risk and warning information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90875" y="2079323"/>
            <a:ext cx="2810619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Continuous monitoring of vehicle safety conditions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Faster response to high-risk situations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Additional safety layer for existing mine safety systems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5975" y="2164449"/>
            <a:ext cx="2569639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Reduced collision-related downtime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Improved operational continuity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Better safety monitoring across mining operations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52239" y="2121037"/>
            <a:ext cx="2520756" cy="106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Safer movement of vehicles in fog and low-visibility conditions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Improved traffic coordination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Increased production efficiency by reducing avoidable collision-related stoppages</a:t>
            </a:r>
          </a:p>
        </p:txBody>
      </p:sp>
      <p:sp>
        <p:nvSpPr>
          <p:cNvPr id="18" name="Freeform 18"/>
          <p:cNvSpPr/>
          <p:nvPr/>
        </p:nvSpPr>
        <p:spPr>
          <a:xfrm>
            <a:off x="2073178" y="3497172"/>
            <a:ext cx="2616200" cy="431800"/>
          </a:xfrm>
          <a:custGeom>
            <a:avLst/>
            <a:gdLst/>
            <a:ahLst/>
            <a:cxnLst/>
            <a:rect l="l" t="t" r="r" b="b"/>
            <a:pathLst>
              <a:path w="3924300" h="647700">
                <a:moveTo>
                  <a:pt x="0" y="0"/>
                </a:moveTo>
                <a:lnTo>
                  <a:pt x="3924300" y="0"/>
                </a:lnTo>
                <a:lnTo>
                  <a:pt x="3924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36978" y="3357472"/>
            <a:ext cx="3200400" cy="571500"/>
          </a:xfrm>
          <a:custGeom>
            <a:avLst/>
            <a:gdLst/>
            <a:ahLst/>
            <a:cxnLst/>
            <a:rect l="l" t="t" r="r" b="b"/>
            <a:pathLst>
              <a:path w="4800600" h="857250">
                <a:moveTo>
                  <a:pt x="0" y="0"/>
                </a:moveTo>
                <a:lnTo>
                  <a:pt x="4800600" y="0"/>
                </a:lnTo>
                <a:lnTo>
                  <a:pt x="4800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103906" y="3489044"/>
            <a:ext cx="2017776" cy="205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81"/>
              </a:lnSpc>
            </a:pPr>
            <a:r>
              <a:rPr lang="en-US" sz="1581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BENEFIT ANALYSIS</a:t>
            </a:r>
          </a:p>
        </p:txBody>
      </p:sp>
      <p:sp>
        <p:nvSpPr>
          <p:cNvPr id="21" name="Freeform 21"/>
          <p:cNvSpPr/>
          <p:nvPr/>
        </p:nvSpPr>
        <p:spPr>
          <a:xfrm>
            <a:off x="5991128" y="3781087"/>
            <a:ext cx="292100" cy="220910"/>
          </a:xfrm>
          <a:custGeom>
            <a:avLst/>
            <a:gdLst/>
            <a:ahLst/>
            <a:cxnLst/>
            <a:rect l="l" t="t" r="r" b="b"/>
            <a:pathLst>
              <a:path w="438150" h="219075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584978" y="3497172"/>
            <a:ext cx="2616200" cy="431800"/>
          </a:xfrm>
          <a:custGeom>
            <a:avLst/>
            <a:gdLst/>
            <a:ahLst/>
            <a:cxnLst/>
            <a:rect l="l" t="t" r="r" b="b"/>
            <a:pathLst>
              <a:path w="3924300" h="647700">
                <a:moveTo>
                  <a:pt x="0" y="0"/>
                </a:moveTo>
                <a:lnTo>
                  <a:pt x="3924300" y="0"/>
                </a:lnTo>
                <a:lnTo>
                  <a:pt x="3924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293639" y="3872616"/>
            <a:ext cx="3498850" cy="2286000"/>
          </a:xfrm>
          <a:custGeom>
            <a:avLst/>
            <a:gdLst/>
            <a:ahLst/>
            <a:cxnLst/>
            <a:rect l="l" t="t" r="r" b="b"/>
            <a:pathLst>
              <a:path w="5248275" h="3429000">
                <a:moveTo>
                  <a:pt x="0" y="0"/>
                </a:moveTo>
                <a:lnTo>
                  <a:pt x="5248276" y="0"/>
                </a:lnTo>
                <a:lnTo>
                  <a:pt x="5248276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7555" r="-27555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98310" y="4054026"/>
            <a:ext cx="162560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"/>
              </a:lnSpc>
            </a:pPr>
            <a:r>
              <a:rPr lang="en-US" sz="1251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SAFETY BENEFITS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1605" y="4390665"/>
            <a:ext cx="3378074" cy="106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Early collision warning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Dynamic safety distance based on vehicle speed and visibility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Time-to-Collision based risk assessment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Reduced risk during fog and low-visibility operation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Graduated warning from caution to critical alert</a:t>
            </a:r>
          </a:p>
        </p:txBody>
      </p:sp>
      <p:sp>
        <p:nvSpPr>
          <p:cNvPr id="26" name="Freeform 26"/>
          <p:cNvSpPr/>
          <p:nvPr/>
        </p:nvSpPr>
        <p:spPr>
          <a:xfrm>
            <a:off x="4024250" y="3899696"/>
            <a:ext cx="4070350" cy="2286000"/>
          </a:xfrm>
          <a:custGeom>
            <a:avLst/>
            <a:gdLst/>
            <a:ahLst/>
            <a:cxnLst/>
            <a:rect l="l" t="t" r="r" b="b"/>
            <a:pathLst>
              <a:path w="6105525" h="3429000">
                <a:moveTo>
                  <a:pt x="0" y="0"/>
                </a:moveTo>
                <a:lnTo>
                  <a:pt x="6105524" y="0"/>
                </a:lnTo>
                <a:lnTo>
                  <a:pt x="6105524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666" r="-16666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4799331" y="4047676"/>
            <a:ext cx="2292096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74"/>
              </a:lnSpc>
            </a:pPr>
            <a:r>
              <a:rPr lang="en-US" sz="1274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OPERATIONAL BENEFITS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02769" y="4390687"/>
            <a:ext cx="3933008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Increased production efficiency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Reduced vehicle downtime caused by collision risks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Real-time local decision making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Continuous operation without dependence on cloud connectivity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Improved operator situational awareness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Supports safer vehicle movement in challenging visibility conditions</a:t>
            </a:r>
          </a:p>
        </p:txBody>
      </p:sp>
      <p:sp>
        <p:nvSpPr>
          <p:cNvPr id="29" name="Freeform 29"/>
          <p:cNvSpPr/>
          <p:nvPr/>
        </p:nvSpPr>
        <p:spPr>
          <a:xfrm>
            <a:off x="8290560" y="3863816"/>
            <a:ext cx="3615690" cy="2568158"/>
          </a:xfrm>
          <a:custGeom>
            <a:avLst/>
            <a:gdLst/>
            <a:ahLst/>
            <a:cxnLst/>
            <a:rect l="l" t="t" r="r" b="b"/>
            <a:pathLst>
              <a:path w="5423535" h="3429000">
                <a:moveTo>
                  <a:pt x="0" y="0"/>
                </a:moveTo>
                <a:lnTo>
                  <a:pt x="5423535" y="0"/>
                </a:lnTo>
                <a:lnTo>
                  <a:pt x="542353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4122" r="-25976"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485852" y="4054026"/>
            <a:ext cx="3245099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98"/>
              </a:lnSpc>
            </a:pPr>
            <a:r>
              <a:rPr lang="en-US" sz="1298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ECONOMIC &amp; SCALABILITY BENEFITS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32956" y="4385642"/>
            <a:ext cx="3453687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Low-cost prototype architecture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Uses commercially available sensors and microcontrollers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No machine-learning training infrastructure required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Modular design allows additional sensors and communication modules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Can complement existing Collision Avoidance / Proximity Detection Systems</a:t>
            </a:r>
          </a:p>
          <a:p>
            <a:pPr marL="171450" indent="-171450">
              <a:lnSpc>
                <a:spcPts val="1386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 (MS)"/>
                <a:sym typeface="Calibri (MS)"/>
              </a:rPr>
              <a:t>Potentially scalable across different types of mining vehicles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248805" y="1854318"/>
            <a:ext cx="2701145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"/>
              </a:lnSpc>
            </a:pPr>
            <a:r>
              <a:rPr lang="en-US" sz="1251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MINE SAFETY TEAMS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95975" y="1857792"/>
            <a:ext cx="2455417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7"/>
              </a:lnSpc>
            </a:pPr>
            <a:r>
              <a:rPr lang="en-US" sz="1227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MINE MANAGEMENT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53417" y="1864139"/>
            <a:ext cx="1818640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1"/>
              </a:lnSpc>
            </a:pPr>
            <a:r>
              <a:rPr lang="en-US" sz="1251" b="1" dirty="0">
                <a:solidFill>
                  <a:srgbClr val="000000"/>
                </a:solidFill>
                <a:latin typeface="Times New Roman" panose="02020603050405020304" pitchFamily="18" charset="0"/>
                <a:ea typeface="Roboto Bold"/>
                <a:cs typeface="Times New Roman" panose="02020603050405020304" pitchFamily="18" charset="0"/>
                <a:sym typeface="Roboto Bold"/>
              </a:rPr>
              <a:t>MINING OPERATIONS</a:t>
            </a:r>
          </a:p>
        </p:txBody>
      </p:sp>
      <p:sp>
        <p:nvSpPr>
          <p:cNvPr id="36" name="Oval 35" descr="Your startup LOGO">
            <a:extLst>
              <a:ext uri="{FF2B5EF4-FFF2-40B4-BE49-F238E27FC236}">
                <a16:creationId xmlns:a16="http://schemas.microsoft.com/office/drawing/2014/main" id="{420D6825-36D3-A4DE-E3C7-FFE71F98AD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32127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Fury</a:t>
            </a:r>
            <a:endParaRPr lang="en-IN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61129333-DFBC-05A3-A9E5-E8C91BBDAE02}"/>
              </a:ext>
            </a:extLst>
          </p:cNvPr>
          <p:cNvSpPr txBox="1">
            <a:spLocks/>
          </p:cNvSpPr>
          <p:nvPr/>
        </p:nvSpPr>
        <p:spPr>
          <a:xfrm>
            <a:off x="635508" y="181545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39" name="Picture 2" descr="https://www.sih.gov.in/img1/SIH-Logo.png">
            <a:extLst>
              <a:ext uri="{FF2B5EF4-FFF2-40B4-BE49-F238E27FC236}">
                <a16:creationId xmlns:a16="http://schemas.microsoft.com/office/drawing/2014/main" id="{C5BC63FE-AC3D-B043-B099-EFE42480E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836" y="57097"/>
            <a:ext cx="2033650" cy="103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6DB33D55-B671-E961-3F1D-D53FA2E1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3" name="Footer Placeholder 6">
            <a:extLst>
              <a:ext uri="{FF2B5EF4-FFF2-40B4-BE49-F238E27FC236}">
                <a16:creationId xmlns:a16="http://schemas.microsoft.com/office/drawing/2014/main" id="{720EE8CB-7B82-9D02-978B-F748784F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26565" y="1007038"/>
            <a:ext cx="1097279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[1] </a:t>
            </a:r>
            <a:r>
              <a:rPr lang="en-US" sz="1600" dirty="0" err="1"/>
              <a:t>Hrica</a:t>
            </a:r>
            <a:r>
              <a:rPr lang="en-US" sz="1600" dirty="0"/>
              <a:t>, J. K., Bellanca, J. L., </a:t>
            </a:r>
            <a:r>
              <a:rPr lang="en-US" sz="1600" dirty="0" err="1"/>
              <a:t>Benbourenane</a:t>
            </a:r>
            <a:r>
              <a:rPr lang="en-US" sz="1600" dirty="0"/>
              <a:t>, I., &amp; </a:t>
            </a:r>
            <a:r>
              <a:rPr lang="en-US" sz="1600" dirty="0" err="1"/>
              <a:t>Stabryla</a:t>
            </a:r>
            <a:r>
              <a:rPr lang="en-US" sz="1600" dirty="0"/>
              <a:t>, K. M. (2022). A Rapid Review of Collision Avoidance and Warning Technologies for Mining Haul Trucks. Mining, Metallurgy &amp; Exploration, 39, 1357–1389. </a:t>
            </a:r>
            <a:r>
              <a:rPr lang="en-US" sz="1600" dirty="0">
                <a:hlinkClick r:id="rId3"/>
              </a:rPr>
              <a:t>https://pmc.ncbi.nlm.nih.gov/articles/PMC9490765/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[2] SLAMTEC. RPLIDAR C1 Specifications. </a:t>
            </a:r>
            <a:r>
              <a:rPr lang="en-US" sz="1600" dirty="0">
                <a:hlinkClick r:id="rId4"/>
              </a:rPr>
              <a:t>https://www.slamtec.com/en/c1/spec</a:t>
            </a:r>
            <a:endParaRPr lang="en-US" sz="1600" dirty="0"/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[3] SLAMTEC. RPLIDAR C1 Datasheet. RPLIDAR C1 360° 2D laser scanner datasheet.</a:t>
            </a:r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[4] </a:t>
            </a:r>
            <a:r>
              <a:rPr lang="en-US" sz="1600" dirty="0" err="1"/>
              <a:t>Dreissig</a:t>
            </a:r>
            <a:r>
              <a:rPr lang="en-US" sz="1600" dirty="0"/>
              <a:t>, M., Scheuble, D., </a:t>
            </a:r>
            <a:r>
              <a:rPr lang="en-US" sz="1600" dirty="0" err="1"/>
              <a:t>Piewak</a:t>
            </a:r>
            <a:r>
              <a:rPr lang="en-US" sz="1600" dirty="0"/>
              <a:t>, F., &amp; Boedecker, J. (2023). Survey on LiDAR Perception in Adverse Weather Conditions. arXiv:2304.06312. </a:t>
            </a:r>
            <a:r>
              <a:rPr lang="en-US" sz="1600" dirty="0">
                <a:hlinkClick r:id="rId5"/>
              </a:rPr>
              <a:t>https://arxiv.org/abs/2304.06312</a:t>
            </a:r>
            <a:endParaRPr lang="en-US" sz="1600" dirty="0"/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[5] Rivera Velázquez, J. M., et al. (2022). Analysis of Thermal Imaging Performance under Extreme Foggy Conditions: Applications to Autonomous Driving. Journal of Imaging, 8(11), 306. </a:t>
            </a:r>
            <a:r>
              <a:rPr lang="en-US" sz="1600" dirty="0">
                <a:hlinkClick r:id="rId6"/>
              </a:rPr>
              <a:t>https://www.mdpi.com/2313-433X/8/11/306</a:t>
            </a:r>
            <a:endParaRPr lang="en-US" sz="1600" dirty="0"/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[6] Vehicle Detection and Tracking Using Thermal Cameras in Adverse Visibility Conditions. Sensors, 22(12), 4567 (2022). </a:t>
            </a:r>
            <a:r>
              <a:rPr lang="en-US" sz="1600" dirty="0">
                <a:hlinkClick r:id="rId7"/>
              </a:rPr>
              <a:t>https://www.mdpi.com/1424-8220/22/12/4567</a:t>
            </a:r>
            <a:endParaRPr lang="en-US" sz="1600" dirty="0"/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[7] Yang, et al. (2026). Non-Line-of-Sight Perception Method for Autonomous Haul Trucks in Open-Pit Mines Based on 4D </a:t>
            </a:r>
            <a:r>
              <a:rPr lang="en-US" sz="1600" dirty="0" err="1"/>
              <a:t>mmWave</a:t>
            </a:r>
            <a:r>
              <a:rPr lang="en-US" sz="1600" dirty="0"/>
              <a:t> Radar and LiDAR Fusion. Sensors, 26(14), 4615. </a:t>
            </a:r>
            <a:r>
              <a:rPr lang="en-US" sz="1600" dirty="0">
                <a:hlinkClick r:id="rId8"/>
              </a:rPr>
              <a:t>https://www.mdpi.com/1424-8220/26/14/4615</a:t>
            </a:r>
            <a:endParaRPr lang="en-US" sz="1600" dirty="0"/>
          </a:p>
          <a:p>
            <a:pPr lvl="0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[8] Texas Instruments. IWR6843AOPEVM Evaluation Module. https://www.ti.com/tool/IWR6843AOPEVM</a:t>
            </a:r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5473" y="130895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Fury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7618" y="57097"/>
            <a:ext cx="2012868" cy="102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8304</TotalTime>
  <Words>1245</Words>
  <Application>Microsoft Office PowerPoint</Application>
  <PresentationFormat>Widescreen</PresentationFormat>
  <Paragraphs>191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Calibri (MS)</vt:lpstr>
      <vt:lpstr>Garamond</vt:lpstr>
      <vt:lpstr>Roboto Bold</vt:lpstr>
      <vt:lpstr>RoxboroughCF</vt:lpstr>
      <vt:lpstr>Times New Roman</vt:lpstr>
      <vt:lpstr>TradeGothic</vt:lpstr>
      <vt:lpstr>Office Theme</vt:lpstr>
      <vt:lpstr>SMART INDIA HACKATHON 2025</vt:lpstr>
      <vt:lpstr>Fog-Adaptive Collision Avoidance System             for Mining Vehicles</vt:lpstr>
      <vt:lpstr>TECHNICAL APPROACH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JAYABALAN DHARMADURAI - [CB.EN.U4ECE24124]</cp:lastModifiedBy>
  <cp:revision>152</cp:revision>
  <dcterms:created xsi:type="dcterms:W3CDTF">2013-12-12T18:46:50Z</dcterms:created>
  <dcterms:modified xsi:type="dcterms:W3CDTF">2026-08-30T15:40:56Z</dcterms:modified>
  <cp:category/>
</cp:coreProperties>
</file>